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5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6" y="-1439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6000" y="4741333"/>
            <a:ext cx="5249333" cy="5249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0400" y="372533"/>
            <a:ext cx="5926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第十七届「工行杯」全国大学生金融科技创新大赛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5333" y="372533"/>
            <a:ext cx="2878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8B34B"/>
                </a:solidFill>
                <a:latin typeface="Microsoft YaHei"/>
              </a:rPr>
              <a:t>科 技 金 融 方 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778000"/>
            <a:ext cx="5926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HARD-TECH  FINANCING 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33600"/>
            <a:ext cx="7620000" cy="778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36" b="1">
                <a:solidFill>
                  <a:srgbClr val="F5D488"/>
                </a:solidFill>
                <a:latin typeface="Microsoft YaHei"/>
              </a:rPr>
              <a:t>工银科创桥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933" y="3098800"/>
            <a:ext cx="1862666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3352800"/>
            <a:ext cx="762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60" b="0">
                <a:solidFill>
                  <a:srgbClr val="E0E6F0"/>
                </a:solidFill>
                <a:latin typeface="Microsoft YaHei"/>
              </a:rPr>
              <a:t>硬科技企业里程碑式投贷联动平台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826933"/>
            <a:ext cx="7620000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0">
                <a:solidFill>
                  <a:srgbClr val="F5D488"/>
                </a:solidFill>
                <a:latin typeface="Microsoft YaHei"/>
              </a:rPr>
              <a:t>让研发的每一步，都成为可计量的信用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5418666"/>
            <a:ext cx="14054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5418666"/>
            <a:ext cx="1405466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AI 动态估值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2000" y="5418666"/>
            <a:ext cx="12530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2000" y="5418666"/>
            <a:ext cx="1253066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专利知识图谱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5418666"/>
            <a:ext cx="11006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3600" y="5418666"/>
            <a:ext cx="1100666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里程碑触发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2800" y="5418666"/>
            <a:ext cx="948266" cy="3386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2800" y="5418666"/>
            <a:ext cx="948266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投贷联动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0666" y="5367866"/>
            <a:ext cx="1693333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304" b="1">
                <a:solidFill>
                  <a:srgbClr val="E8B34B"/>
                </a:solidFill>
                <a:latin typeface="Microsoft YaHei"/>
              </a:rPr>
              <a:t>8</a:t>
            </a:r>
            <a:r>
              <a:rPr sz="1652" b="0">
                <a:solidFill>
                  <a:srgbClr val="E8B34B"/>
                </a:solidFill>
                <a:latin typeface="Microsoft YaHei"/>
              </a:rPr>
              <a:t>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0666" y="5774266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项目汇报 · 20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6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0" y="-1693333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汇报导览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先回答价值，再证明技术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811866"/>
            <a:ext cx="6434666" cy="3217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811866"/>
            <a:ext cx="6434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2032000"/>
            <a:ext cx="2540000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18" b="1">
                <a:solidFill>
                  <a:srgbClr val="F5D488"/>
                </a:solidFill>
                <a:latin typeface="Microsoft YaHei"/>
              </a:rPr>
              <a:t>PART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0" y="2116666"/>
            <a:ext cx="2709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应用价值 · 13 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" y="2540000"/>
            <a:ext cx="59266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0">
                <a:solidFill>
                  <a:srgbClr val="E0E6F0"/>
                </a:solidFill>
                <a:latin typeface="Microsoft YaHei"/>
              </a:rPr>
              <a:t>这条路子，解决什么问题、值多少钱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30310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30310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866" y="2997200"/>
            <a:ext cx="3386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困境洞察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866" y="3268133"/>
            <a:ext cx="5418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三重金融困境 · 死亡谷 · 政策窗口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" y="36914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36914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866" y="3657600"/>
            <a:ext cx="3386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破局方案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866" y="3928533"/>
            <a:ext cx="5418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四核能力 · 五阶里程碑 · 三方共赢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3518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3518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866" y="4318000"/>
            <a:ext cx="3386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落地验证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866" y="4588933"/>
            <a:ext cx="5418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产品演示 · 场景推演 · 成效测算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9733" y="1811866"/>
            <a:ext cx="4487333" cy="3217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9733" y="1811866"/>
            <a:ext cx="4487333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2933" y="2032000"/>
            <a:ext cx="2540000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18" b="1">
                <a:solidFill>
                  <a:srgbClr val="F5D488"/>
                </a:solidFill>
                <a:latin typeface="Microsoft YaHei"/>
              </a:rPr>
              <a:t>PART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1333" y="2116666"/>
            <a:ext cx="1642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技术价值 · 5 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2933" y="2540000"/>
            <a:ext cx="38946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0">
                <a:solidFill>
                  <a:srgbClr val="E0E6F0"/>
                </a:solidFill>
                <a:latin typeface="Microsoft YaHei"/>
              </a:rPr>
              <a:t>凭什么是我们做得到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2933" y="3031066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2933" y="30310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1600" y="2997200"/>
            <a:ext cx="3386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架构与 AI 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1600" y="3268133"/>
            <a:ext cx="3640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XGBoost 双模型 · PageRank 图算法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2933" y="3877733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82933" y="3877733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1600" y="3843866"/>
            <a:ext cx="3386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工程实现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1600" y="4114800"/>
            <a:ext cx="3640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优雅降级 · 实时联动 · 可追溯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5384800"/>
            <a:ext cx="1016000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篇幅配比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08666" y="5418666"/>
            <a:ext cx="9144000" cy="135466"/>
          </a:xfrm>
          <a:prstGeom prst="rect">
            <a:avLst/>
          </a:prstGeom>
          <a:noFill/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08666" y="5418666"/>
            <a:ext cx="6587066" cy="135466"/>
          </a:xfrm>
          <a:prstGeom prst="rect">
            <a:avLst/>
          </a:prstGeom>
          <a:solidFill>
            <a:srgbClr val="E8B34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95733" y="5418666"/>
            <a:ext cx="2556933" cy="135466"/>
          </a:xfrm>
          <a:prstGeom prst="rect">
            <a:avLst/>
          </a:prstGeom>
          <a:solidFill>
            <a:srgbClr val="C7000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79666" y="5334000"/>
            <a:ext cx="804333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94" b="1">
                <a:solidFill>
                  <a:srgbClr val="F5D488"/>
                </a:solidFill>
                <a:latin typeface="Microsoft YaHei"/>
              </a:rPr>
              <a:t>7 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i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1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3" y="-1524000"/>
            <a:ext cx="5588000" cy="5588000"/>
          </a:xfrm>
          <a:prstGeom prst="rect">
            <a:avLst/>
          </a:prstGeom>
        </p:spPr>
      </p:pic>
      <p:pic>
        <p:nvPicPr>
          <p:cNvPr id="5" name="Picture 4" descr="glow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402666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困境洞察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银行惜贷、创投观望、保险缺位的三重困境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659466"/>
            <a:ext cx="111760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659466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333" y="1820333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核心论点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0933" y="1693333"/>
            <a:ext cx="99906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硬科技企业不是缺资金，而是缺一套「把技术翻译成信用」的语言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000" y="2387600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2573866"/>
            <a:ext cx="3132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银行不敢贷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861733"/>
            <a:ext cx="3149600" cy="440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1" b="1">
                <a:solidFill>
                  <a:srgbClr val="F5D488"/>
                </a:solidFill>
                <a:latin typeface="Microsoft YaHei"/>
              </a:rPr>
              <a:t>50.2</a:t>
            </a:r>
            <a:r>
              <a:rPr sz="1730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86666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科技型中小企业获贷率 · 2025Q4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691466"/>
            <a:ext cx="3149600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近半数科技型中小企业被挡在银行体系之外；高新技术企业获贷率也仅 57.3%。核心资产是专利与人，缺少合格抵押物。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8000" y="2387600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1200" y="2573866"/>
            <a:ext cx="3132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创投不敢投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200" y="2861733"/>
            <a:ext cx="3149600" cy="440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1" b="1">
                <a:solidFill>
                  <a:srgbClr val="F5D488"/>
                </a:solidFill>
                <a:latin typeface="Microsoft YaHei"/>
              </a:rPr>
              <a:t>4</a:t>
            </a:r>
            <a:r>
              <a:rPr sz="1730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200" y="3386666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长期资本占比 · 美国为 70%~80%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200" y="3691466"/>
            <a:ext cx="3149600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计入政府引导基金也仅 10%~20%；国内创投基金普遍「5+2」周期，短于成熟市场的「10+2」，早期项目更难被托住。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8000" y="2387600"/>
            <a:ext cx="3556000" cy="2794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8000" y="2387600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1200" y="2573866"/>
            <a:ext cx="3132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保险不敢保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1200" y="2878666"/>
            <a:ext cx="31496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评估难 · 风控难 · 处置难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1200" y="3386666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知识产权融资的三道闸门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1200" y="3691466"/>
            <a:ext cx="3149600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不同机构估值差异大；违约后面临找买家难、定价难、过户难，导致研发失败风险难以被合理定价。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8000" y="5367866"/>
            <a:ext cx="7958666" cy="5588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000" y="5367866"/>
            <a:ext cx="33866" cy="5588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7333" y="5545666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关键洞察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0933" y="5401733"/>
            <a:ext cx="6773333" cy="491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问题不在「不愿贷」，而在「不会评」——缺的是可解释、可追溯、可审计的非财务评价体系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2133" y="5367866"/>
            <a:ext cx="3081866" cy="5588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1466" y="5452533"/>
            <a:ext cx="2794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金融机构能力短板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1466" y="5655733"/>
            <a:ext cx="2794000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94" b="1">
                <a:solidFill>
                  <a:srgbClr val="FF5A4E"/>
                </a:solidFill>
                <a:latin typeface="Microsoft YaHei"/>
              </a:rPr>
              <a:t>看不懂 · 不会评 · 不敢贷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4064000"/>
            <a:ext cx="5418666" cy="54186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困境洞察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错位的时间与资金：跨不过的死亡谷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266" y="2116666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266" y="21166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F5A4E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099733"/>
            <a:ext cx="2709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期限错位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266" y="2489200"/>
            <a:ext cx="3183466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硬科技从研发到量产普遍需 5~10 年，创新药更有「双十定律」——10 亿美元、10 年；而银行信贷以短期为主，风投多聚焦接近 IPO 的后期项目。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266" y="4148666"/>
            <a:ext cx="2116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半导体研发投入强度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266" y="4148666"/>
            <a:ext cx="31834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4266" y="2116666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4266" y="21166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2099733"/>
            <a:ext cx="2709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资产错位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4266" y="2489200"/>
            <a:ext cx="3183466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核心资产是专利与人才团队等无形资产，价值评估难、波动性强、流转变现难，与银行「重抵押」的准入标准形成结构性冲突。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4266" y="4148666"/>
            <a:ext cx="2116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传统贷款的判定依据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4266" y="4148666"/>
            <a:ext cx="31834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土地 · 厂房 · 设备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0" y="1913466"/>
            <a:ext cx="3556000" cy="2844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4266" y="2116666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4266" y="21166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9FB4DA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000" y="2099733"/>
            <a:ext cx="2709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风险错位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266" y="2489200"/>
            <a:ext cx="3183466" cy="1354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科技创新天然伴随高失败率，与银行追求安全性、流动性的逻辑直接冲突；基层信贷人员的终身追责机制进一步限制了早期投放意愿。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4266" y="4030133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4266" y="4148666"/>
            <a:ext cx="2116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耐心资本考核约束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266" y="4148666"/>
            <a:ext cx="31834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短期财务绩效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8000" y="4944533"/>
            <a:ext cx="2540000" cy="982133"/>
          </a:xfrm>
          <a:prstGeom prst="rect">
            <a:avLst/>
          </a:prstGeom>
          <a:solidFill>
            <a:srgbClr val="C7000B">
              <a:alpha val="14000"/>
            </a:srgbClr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266" y="5063066"/>
            <a:ext cx="2201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资金缺口导致的代价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266" y="5266266"/>
            <a:ext cx="2201333" cy="440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48" b="1">
                <a:solidFill>
                  <a:srgbClr val="FF5A4E"/>
                </a:solidFill>
                <a:latin typeface="Microsoft YaHei"/>
              </a:rPr>
              <a:t>75</a:t>
            </a:r>
            <a:r>
              <a:rPr sz="2045" b="0">
                <a:solidFill>
                  <a:srgbClr val="FF5A4E"/>
                </a:solidFill>
                <a:latin typeface="Microsoft YaHei"/>
              </a:rPr>
              <a:t>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266" y="5740400"/>
            <a:ext cx="2201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新材料、高端装备等硬科技赛道夭折率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7333" y="4944533"/>
            <a:ext cx="8466666" cy="982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0533" y="5063066"/>
            <a:ext cx="59266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8B34B"/>
                </a:solidFill>
                <a:latin typeface="Microsoft YaHei"/>
              </a:rPr>
              <a:t>一线调研 · 公开报道情境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0533" y="5283200"/>
            <a:ext cx="804333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某国家级专精特新「小巨人」企业测算：上游需全款预付，设备生产 1~2 个月，下游账期 2~3 个月，再加 6 个月票据期限——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资金需约一年才能周转一圈</a:t>
            </a:r>
            <a:r>
              <a:rPr sz="1337" b="0">
                <a:solidFill>
                  <a:srgbClr val="E0E6F0"/>
                </a:solidFill>
                <a:latin typeface="Microsoft YaHei"/>
              </a:rPr>
              <a:t>。扩产期正是现金流最容易断裂的时刻。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68000"/>
                </a:srgbClr>
              </a:gs>
            </a:gsLst>
            <a:lin ang="3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910666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时代窗口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政策破壁、市场扩容，窗口期已经打开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334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894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顶层设计密集落地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6000" y="2082800"/>
            <a:ext cx="8297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000" y="2082800"/>
            <a:ext cx="829733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266" y="2438400"/>
            <a:ext cx="4961466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3 月《银行业保险业科技金融高质量发展实施方案》；5 月《加快构建科技金融体制…若干政策举措》围绕创投、信贷、资本市场等 7 方面提出 15 项举措。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1913466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0" y="1913466"/>
            <a:ext cx="5334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6266" y="2082800"/>
            <a:ext cx="3894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制度试点系统性破壁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68000" y="2082800"/>
            <a:ext cx="8297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2082800"/>
            <a:ext cx="829733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8 省市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6266" y="2438400"/>
            <a:ext cx="4961466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知识产权金融生态综合试点围绕登记、评估、处置、补偿四大环节破壁；已有 13 个省份、124 个地市出台知识产权质押融资风险补偿政策。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556000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000" y="3556000"/>
            <a:ext cx="5334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66" y="3725333"/>
            <a:ext cx="3894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市场规模快速扩容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4200" y="3725333"/>
            <a:ext cx="12615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4200" y="3725333"/>
            <a:ext cx="1261533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同比 +56%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266" y="4080933"/>
            <a:ext cx="4961466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2025 年银行业累计发放知识产权质押贷款 2979 亿元、2.87 万户，较 2023 年分别增长 56% 和 33%；科技型中小企业贷款余额 3.63 万亿元（+19.8%）。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556000"/>
            <a:ext cx="5334000" cy="1507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56000"/>
            <a:ext cx="5334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6266" y="3725333"/>
            <a:ext cx="38946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行方业务基础扎实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24066" y="3725333"/>
            <a:ext cx="973666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4066" y="3725333"/>
            <a:ext cx="973666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6 万亿元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6266" y="4080933"/>
            <a:ext cx="4961466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工商银行科技贷款余额 6 万亿元、科技型企业贷款 2.7 万亿元；已推出「五专」服务体系与研发贷、积分贷、知识产权融资等专属产品。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5350933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8000" y="5350933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333" y="5545666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政策指向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0933" y="5384800"/>
            <a:ext cx="9990666" cy="524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监管明确倡导「运用</a:t>
            </a:r>
            <a:r>
              <a:rPr sz="1416" b="1">
                <a:solidFill>
                  <a:srgbClr val="F5D488"/>
                </a:solidFill>
                <a:latin typeface="Microsoft YaHei"/>
              </a:rPr>
              <a:t>内部模型</a:t>
            </a:r>
            <a:r>
              <a:rPr sz="1416" b="0">
                <a:solidFill>
                  <a:srgbClr val="E0E6F0"/>
                </a:solidFill>
                <a:latin typeface="Microsoft YaHei"/>
              </a:rPr>
              <a:t>确定知识产权价值」「基于企业画像智能匹配产品服务」——本平台正是对这一导向的技术回应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6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-1524000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破局方案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让研发的每一步，都成为可计量的信用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778000"/>
            <a:ext cx="11176000" cy="8128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778000"/>
            <a:ext cx="1117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1913466"/>
            <a:ext cx="33866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 心 答 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150533"/>
            <a:ext cx="107526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0">
                <a:solidFill>
                  <a:srgbClr val="E0E6F0"/>
                </a:solidFill>
                <a:latin typeface="Microsoft YaHei"/>
              </a:rPr>
              <a:t>以 </a:t>
            </a:r>
            <a:r>
              <a:rPr sz="1966" b="1">
                <a:solidFill>
                  <a:srgbClr val="F5D488"/>
                </a:solidFill>
                <a:latin typeface="Microsoft YaHei"/>
              </a:rPr>
              <a:t>AI 评估引擎</a:t>
            </a:r>
            <a:r>
              <a:rPr sz="1966" b="0">
                <a:solidFill>
                  <a:srgbClr val="E0E6F0"/>
                </a:solidFill>
                <a:latin typeface="Microsoft YaHei"/>
              </a:rPr>
              <a:t> 为非财务资产定价，以 </a:t>
            </a:r>
            <a:r>
              <a:rPr sz="1966" b="1">
                <a:solidFill>
                  <a:srgbClr val="F5D488"/>
                </a:solidFill>
                <a:latin typeface="Microsoft YaHei"/>
              </a:rPr>
              <a:t>研发里程碑</a:t>
            </a:r>
            <a:r>
              <a:rPr sz="1966" b="0">
                <a:solidFill>
                  <a:srgbClr val="E0E6F0"/>
                </a:solidFill>
                <a:latin typeface="Microsoft YaHei"/>
              </a:rPr>
              <a:t> 为触发器动态匹配金融工具包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000" y="2760133"/>
            <a:ext cx="2667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333" y="2929466"/>
            <a:ext cx="2328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333" y="3149600"/>
            <a:ext cx="2328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AI 评估引擎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333" y="3505200"/>
            <a:ext cx="2328333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专利引用网络 PageRank + 研发团队画像 + XGBoost 双模型，输出动态估值与风险评分，替代「拍脑袋」式评估。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74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27400" y="2760133"/>
            <a:ext cx="2667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6733" y="2929466"/>
            <a:ext cx="2328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6733" y="3149600"/>
            <a:ext cx="2328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里程碑触发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6733" y="3505200"/>
            <a:ext cx="2328333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5 个研发阶段各绑定一套金融工具包与授信比例；研发过一关，额度上一阶，无需重新走一遍完整审批流程。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68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6800" y="2760133"/>
            <a:ext cx="2667000" cy="338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6133" y="2929466"/>
            <a:ext cx="2328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6133" y="3149600"/>
            <a:ext cx="2328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投贷联动工作台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6133" y="3505200"/>
            <a:ext cx="2328333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银行授信与创投跟投在同一视图协同，「见投即贷、先投后贷」有了可复核的量化依据，不再依赖人情与经验。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6200" y="2760133"/>
            <a:ext cx="2667000" cy="21166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6200" y="2760133"/>
            <a:ext cx="2667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5533" y="2929466"/>
            <a:ext cx="2328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CAPABILITY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5533" y="3149600"/>
            <a:ext cx="2328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风控看板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5533" y="3505200"/>
            <a:ext cx="2328333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风险评分与里程碑进度双线跟踪；里程碑延迟、进度偏低自动预警，把风险识别从事后处置提前到事前提示。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7333" y="5249333"/>
            <a:ext cx="2540000" cy="474133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7333" y="5249333"/>
            <a:ext cx="2540000" cy="474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0">
                <a:solidFill>
                  <a:srgbClr val="9FB4DA"/>
                </a:solidFill>
                <a:latin typeface="Microsoft YaHei"/>
              </a:rPr>
              <a:t>传统「静态审批」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6666" y="5350933"/>
            <a:ext cx="5080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24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333" y="5249333"/>
            <a:ext cx="3556000" cy="474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333" y="5249333"/>
            <a:ext cx="3556000" cy="474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2" b="1">
                <a:solidFill>
                  <a:srgbClr val="FFFFFF"/>
                </a:solidFill>
                <a:latin typeface="Microsoft YaHei"/>
              </a:rPr>
              <a:t>里程碑驱动的「动态授信」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6096000" cy="6096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核心机制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五阶里程碑，自动触发五套金融工具包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2266"/>
            <a:ext cx="9313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每一个研发里程碑，都是一次「信用释放事件」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507066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000" y="1964266"/>
            <a:ext cx="2032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3466" y="2150533"/>
            <a:ext cx="203200" cy="203200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66" y="215053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1666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立项 / 预研完成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66" y="2506133"/>
            <a:ext cx="176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知识产权质押贷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研发补贴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66" y="3589866"/>
            <a:ext cx="17610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66" y="3793066"/>
            <a:ext cx="1761066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15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4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466" y="4301066"/>
            <a:ext cx="524933" cy="508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24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2400" y="1964266"/>
            <a:ext cx="2032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27866" y="2150533"/>
            <a:ext cx="203200" cy="203200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27866" y="215053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8800" y="211666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原型验证通过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7866" y="2506133"/>
            <a:ext cx="176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AI 动态估值授信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股权跟投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7866" y="3589866"/>
            <a:ext cx="17610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7866" y="3793066"/>
            <a:ext cx="1761066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25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278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27866" y="4301066"/>
            <a:ext cx="880533" cy="508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6800" y="1964266"/>
            <a:ext cx="2032000" cy="2709333"/>
          </a:xfrm>
          <a:prstGeom prst="rect">
            <a:avLst/>
          </a:prstGeom>
          <a:solidFill>
            <a:srgbClr val="143061">
              <a:alpha val="7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76800" y="1964266"/>
            <a:ext cx="2032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12266" y="2150533"/>
            <a:ext cx="203200" cy="203200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2266" y="215053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F5A4E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3200" y="211666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流片 / 临床 II 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2266" y="2506133"/>
            <a:ext cx="176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投贷联动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银行授信 + VC 跟投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2266" y="3589866"/>
            <a:ext cx="17610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2266" y="3793066"/>
            <a:ext cx="1761066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40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122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12266" y="4301066"/>
            <a:ext cx="1405466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12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1200" y="1964266"/>
            <a:ext cx="2032000" cy="338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96666" y="2150533"/>
            <a:ext cx="203200" cy="203200"/>
          </a:xfrm>
          <a:prstGeom prst="rect">
            <a:avLst/>
          </a:prstGeom>
          <a:noFill/>
          <a:ln w="15240">
            <a:solidFill>
              <a:srgbClr val="9FB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6666" y="215053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9FB4DA"/>
                </a:solidFill>
                <a:latin typeface="Microsoft YaHe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7600" y="211666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商业化量产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666" y="2506133"/>
            <a:ext cx="176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供应链票据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订单融资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6666" y="3589866"/>
            <a:ext cx="17610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666" y="3793066"/>
            <a:ext cx="1761066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30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66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96666" y="4301066"/>
            <a:ext cx="1049866" cy="50800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45600" y="1964266"/>
            <a:ext cx="2032000" cy="27093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45600" y="1964266"/>
            <a:ext cx="2032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81066" y="2150533"/>
            <a:ext cx="203200" cy="203200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81066" y="2150533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1">
                <a:solidFill>
                  <a:srgbClr val="F5D488"/>
                </a:solidFill>
                <a:latin typeface="Microsoft YaHe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2000" y="2116666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上市预备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1066" y="2506133"/>
            <a:ext cx="176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可转债</a:t>
            </a:r>
          </a:p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+ 科创专项债券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1066" y="3589866"/>
            <a:ext cx="17610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1066" y="3793066"/>
            <a:ext cx="1761066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74" b="1">
                <a:solidFill>
                  <a:srgbClr val="F5D488"/>
                </a:solidFill>
                <a:latin typeface="Microsoft YaHei"/>
              </a:rPr>
              <a:t>50</a:t>
            </a:r>
            <a:r>
              <a:rPr sz="1337" b="0">
                <a:solidFill>
                  <a:srgbClr val="F5D488"/>
                </a:solidFill>
                <a:latin typeface="Microsoft YaHei"/>
              </a:rPr>
              <a:t>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81066" y="4301066"/>
            <a:ext cx="1761066" cy="50800"/>
          </a:xfrm>
          <a:prstGeom prst="rect">
            <a:avLst/>
          </a:prstGeom>
          <a:solidFill>
            <a:srgbClr val="5B7DB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81066" y="4301066"/>
            <a:ext cx="1761066" cy="50800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8000" y="5046133"/>
            <a:ext cx="79586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8000" y="5046133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7333" y="5257800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授信公式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40933" y="5080000"/>
            <a:ext cx="6773333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最终授信 ＝ AI 估值 × 30% × </a:t>
            </a:r>
            <a:r>
              <a:rPr sz="1573" b="1">
                <a:solidFill>
                  <a:srgbClr val="F5D488"/>
                </a:solidFill>
                <a:latin typeface="Microsoft YaHei"/>
              </a:rPr>
              <a:t>里程碑进度系数</a:t>
            </a:r>
            <a:r>
              <a:rPr sz="1573" b="0">
                <a:solidFill>
                  <a:srgbClr val="E0E6F0"/>
                </a:solidFill>
                <a:latin typeface="Microsoft YaHei"/>
              </a:rPr>
              <a:t> ×（1 − </a:t>
            </a:r>
            <a:r>
              <a:rPr sz="1573" b="1">
                <a:solidFill>
                  <a:srgbClr val="FF5A4E"/>
                </a:solidFill>
                <a:latin typeface="Microsoft YaHei"/>
              </a:rPr>
              <a:t>风险评分</a:t>
            </a:r>
            <a:r>
              <a:rPr sz="1573" b="0">
                <a:solidFill>
                  <a:srgbClr val="E0E6F0"/>
                </a:solidFill>
                <a:latin typeface="Microsoft YaHei"/>
              </a:rPr>
              <a:t> × 0.5）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02133" y="5046133"/>
            <a:ext cx="30818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1466" y="5164666"/>
            <a:ext cx="2794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成功度量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1466" y="5367866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5 阶段全覆盖 · 拖动进度实时重算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anker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价值主张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银行敢贷、企业好融、资本可投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2099733"/>
            <a:ext cx="23706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商业银行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4866" y="2133600"/>
            <a:ext cx="1109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敢贷 · 会贷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2641600"/>
            <a:ext cx="31496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2844800"/>
            <a:ext cx="314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从「看抵押物」到「看创新力」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" y="3318933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33" y="3234266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获得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可解释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的非财务评价体系，破解「看不懂、不会评」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" y="3843866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33" y="3759200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授信额度随研发进度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动态调整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，不必反复重走审批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200" y="4368800"/>
            <a:ext cx="59266" cy="592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33" y="4284133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风险在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前置指标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上被识别，而非事后追偿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2099733"/>
            <a:ext cx="23706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硬科技企业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4866" y="2133600"/>
            <a:ext cx="1109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好融 · 稳融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1200" y="2641600"/>
            <a:ext cx="31496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200" y="2844800"/>
            <a:ext cx="314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融资节奏与研发节奏对齐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3318933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533" y="3234266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最缺钱的中试 / 流片 / 临床阶段，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恰好有对应工具包触发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4521200" y="3843866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533" y="3759200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过一关释放一档额度，形成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确定性预期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，便于排产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1200" y="4368800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533" y="4284133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无需在最困难时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贱卖股权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，稀释节奏可控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0" y="1913466"/>
            <a:ext cx="3556000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1200" y="2099733"/>
            <a:ext cx="23706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66" b="1">
                <a:solidFill>
                  <a:srgbClr val="F5D488"/>
                </a:solidFill>
                <a:latin typeface="Microsoft YaHei"/>
              </a:rPr>
              <a:t>创投 / AIC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74866" y="2133600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74866" y="2133600"/>
            <a:ext cx="1109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敢投 · 可核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1200" y="2540000"/>
            <a:ext cx="31496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1200" y="2641600"/>
            <a:ext cx="31496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核心转变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1200" y="2844800"/>
            <a:ext cx="314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0">
                <a:solidFill>
                  <a:srgbClr val="E0E6F0"/>
                </a:solidFill>
                <a:latin typeface="Microsoft YaHei"/>
              </a:rPr>
              <a:t>从「各自判断」到「同一套数据」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1200" y="3318933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0533" y="3234266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获得第三方可复核的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动态估值时间序列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8331200" y="3843866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0533" y="3759200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为「见投即贷」「先投后贷」提供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量化前提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331200" y="4368800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0533" y="4284133"/>
            <a:ext cx="29802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尽调结果可直接转化为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授信参数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，减少重复劳动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000" y="5367866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8000" y="5367866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7333" y="5562600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5B7DBB"/>
                </a:solidFill>
                <a:latin typeface="Microsoft YaHei"/>
              </a:rPr>
              <a:t>延伸覆盖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0933" y="5401733"/>
            <a:ext cx="9990666" cy="524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保险机构：破产概率输出可作为「中试保融通」类产品定价参考　│　政府性担保：为风险补偿资金池按比例分担提供量化依据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从数据接入到额度释放：端到端闭环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2266"/>
            <a:ext cx="9313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把分散的技术信号，压缩成一次可执行的授信决策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507066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000" y="2082800"/>
            <a:ext cx="24384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266" y="2286000"/>
            <a:ext cx="304800" cy="304800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266" y="22860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733" y="2319866"/>
            <a:ext cx="169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数据接入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266" y="2726266"/>
            <a:ext cx="2065866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企业基础信息、专利数据与引用关系、团队成员学术产出，以及 95 维财务特征一次性归集。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266" y="4131733"/>
            <a:ext cx="20658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输入：工商 + 知识产权 + 人才 + 财务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4133" y="2878666"/>
            <a:ext cx="254000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5B7DBB"/>
                </a:solidFill>
                <a:latin typeface="Microsoft YaHei"/>
              </a:rPr>
              <a:t>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2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02000" y="2082800"/>
            <a:ext cx="24384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8266" y="2286000"/>
            <a:ext cx="304800" cy="304800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8266" y="22860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733" y="2319866"/>
            <a:ext cx="169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AI 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8266" y="2726266"/>
            <a:ext cx="2065866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XGBoost 估值模型输出动态估值，破产风险模型输出破产概率，PageRank 计算专利影响力。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8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8266" y="4131733"/>
            <a:ext cx="20658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产出：估值区间 + 风险评分 + 专利质量分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8133" y="2878666"/>
            <a:ext cx="254000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0" y="2082800"/>
            <a:ext cx="24384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82266" y="2286000"/>
            <a:ext cx="304800" cy="304800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2266" y="22860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F5A4E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1733" y="2319866"/>
            <a:ext cx="169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工具匹配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2266" y="2726266"/>
            <a:ext cx="2065866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按当前研发里程碑匹配金融工具包；拖动进度即可实时重算授信额度，所见即所得。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2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2266" y="4131733"/>
            <a:ext cx="20658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产出：工具包清单 + 可执行额度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2133" y="2878666"/>
            <a:ext cx="254000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8" b="0">
                <a:solidFill>
                  <a:srgbClr val="C7000B"/>
                </a:solidFill>
                <a:latin typeface="Microsoft YaHei"/>
              </a:rPr>
              <a:t>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0000" y="2082800"/>
            <a:ext cx="2438400" cy="2472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90000" y="2082800"/>
            <a:ext cx="24384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76266" y="2286000"/>
            <a:ext cx="304800" cy="304800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6266" y="22860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5733" y="2319866"/>
            <a:ext cx="169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动态风控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6266" y="2726266"/>
            <a:ext cx="2065866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风险评分与里程碑进度双线跟踪；延迟或进度偏低自动预警，并联动调整授信额度。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6266" y="4030133"/>
            <a:ext cx="20658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6266" y="4131733"/>
            <a:ext cx="20658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产出：预警事件 + 额度动态调整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333" y="4910666"/>
            <a:ext cx="50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3066" y="4910666"/>
            <a:ext cx="1490133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个 REST 端点，全链路贯通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464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15733" y="4910666"/>
            <a:ext cx="50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91466" y="4910666"/>
            <a:ext cx="1490133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维财务特征用于风险建模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84800" y="4792133"/>
            <a:ext cx="2269066" cy="524933"/>
          </a:xfrm>
          <a:prstGeom prst="rect">
            <a:avLst/>
          </a:prstGeom>
          <a:solidFill>
            <a:srgbClr val="0E2145">
              <a:alpha val="5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4133" y="4910666"/>
            <a:ext cx="50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24" b="1">
                <a:solidFill>
                  <a:srgbClr val="F5D488"/>
                </a:solidFill>
                <a:latin typeface="Microsoft YaHe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9866" y="4910666"/>
            <a:ext cx="1490133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个里程碑阶段各绑定工具包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3200" y="4792133"/>
            <a:ext cx="38608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23200" y="4792133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92533" y="4953000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C7000B"/>
                </a:solidFill>
                <a:latin typeface="Microsoft YaHei"/>
              </a:rPr>
              <a:t>服务连续性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6133" y="4826000"/>
            <a:ext cx="26754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模型异常时自动回退规则公式，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服务不中断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3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588000" cy="5588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落地验证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从实验室到量产：三类企业的融资推演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半导体芯片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116666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9FB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116666"/>
            <a:ext cx="1109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5B7DBB"/>
                </a:solidFill>
                <a:latin typeface="Microsoft YaHei"/>
              </a:rPr>
              <a:t>流片是关键节点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733" y="2540000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733" y="2726266"/>
            <a:ext cx="29802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流片成本高、周期长，缺少合格抵押物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733" y="3183466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733" y="3369733"/>
            <a:ext cx="29464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原型验证阶段按 25% 释放额度；流片成功后触发投贷联动，比例升至 40%，银行授信与产业资本同步进入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66" y="4250266"/>
            <a:ext cx="31834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 UWB 芯片企业以全量知识产权数据构建量化模型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266" y="2082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生物医药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1800" y="2116666"/>
            <a:ext cx="1109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1800" y="2116666"/>
            <a:ext cx="1109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5D488"/>
                </a:solidFill>
                <a:latin typeface="Microsoft YaHei"/>
              </a:rPr>
              <a:t>临床 II 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0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9733" y="2540000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9733" y="2726266"/>
            <a:ext cx="29802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临床周期长、成败二元，财务报表不好看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9733" y="3183466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9733" y="3369733"/>
            <a:ext cx="29464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临床 II 期达标触发投贷联动；破产概率模型同步为「中试保融通」类保险提供定价参考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4266" y="4250266"/>
            <a:ext cx="31834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参照：某国家级中试平台获超 1 亿元中长期授信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0" y="1913466"/>
            <a:ext cx="3556000" cy="3014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4266" y="2082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高端装备 / 新材料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0" y="2116666"/>
            <a:ext cx="728133" cy="2370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0" y="2116666"/>
            <a:ext cx="728133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F5A4E"/>
                </a:solidFill>
                <a:latin typeface="Microsoft YaHei"/>
              </a:rPr>
              <a:t>量产爬坡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4266" y="2472266"/>
            <a:ext cx="3183466" cy="558800"/>
          </a:xfrm>
          <a:prstGeom prst="rect">
            <a:avLst/>
          </a:prstGeom>
          <a:solidFill>
            <a:srgbClr val="C700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14266" y="2472266"/>
            <a:ext cx="25400" cy="558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733" y="2540000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挑 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733" y="2726266"/>
            <a:ext cx="2980266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中试资金密集，订单释放明显滞后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4266" y="3115733"/>
            <a:ext cx="3183466" cy="897466"/>
          </a:xfrm>
          <a:prstGeom prst="rect">
            <a:avLst/>
          </a:prstGeom>
          <a:solidFill>
            <a:srgbClr val="E8B34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14266" y="3115733"/>
            <a:ext cx="25400" cy="8974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733" y="3183466"/>
            <a:ext cx="2878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推 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733" y="3369733"/>
            <a:ext cx="29464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量产阶段切换至供应链票据 + 订单融资（30%），以真实订单替代抵押物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14266" y="4148666"/>
            <a:ext cx="31834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4266" y="4250266"/>
            <a:ext cx="31834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参照：某锂电材料企业经技术流评价获 6000 万元综合授信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000" y="5266266"/>
            <a:ext cx="11176000" cy="660400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8000" y="5266266"/>
            <a:ext cx="33866" cy="660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7333" y="5494866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合规说明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40933" y="5300133"/>
            <a:ext cx="9990666" cy="59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以上为基于公开报道情境的适用性推演，用于验证方案在不同硬科技赛道的适配能力，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并非本平台实际客户数据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anker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0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096000" cy="609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400" y="389466"/>
            <a:ext cx="3386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94266"/>
            <a:ext cx="3386666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81" b="1">
                <a:solidFill>
                  <a:srgbClr val="F5D488"/>
                </a:solidFill>
                <a:latin typeface="Microsoft YaHei"/>
              </a:rPr>
              <a:t>企业画像</a:t>
            </a:r>
          </a:p>
          <a:p>
            <a:pPr algn="l">
              <a:lnSpc>
                <a:spcPct val="118000"/>
              </a:lnSpc>
            </a:pPr>
            <a:r>
              <a:rPr sz="2281" b="1">
                <a:solidFill>
                  <a:srgbClr val="F5D488"/>
                </a:solidFill>
                <a:latin typeface="Microsoft YaHei"/>
              </a:rPr>
              <a:t>非财务资产如何被定价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933" y="1659466"/>
            <a:ext cx="1100666" cy="33866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913466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系统把一家没有厂房、没有利润的硬科技企业，翻译成六个可直接比较的量化指标。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878666"/>
            <a:ext cx="3048000" cy="982133"/>
          </a:xfrm>
          <a:prstGeom prst="rect">
            <a:avLst/>
          </a:prstGeom>
          <a:solidFill>
            <a:srgbClr val="E8B34B">
              <a:alpha val="1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2878666"/>
            <a:ext cx="33866" cy="982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333" y="2997200"/>
            <a:ext cx="2709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演 示 重 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333" y="3200400"/>
            <a:ext cx="2709333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切换企业时估值与风险评分实时联动；标注估值来源，结果</a:t>
            </a:r>
            <a:r>
              <a:rPr sz="1180" b="1">
                <a:solidFill>
                  <a:srgbClr val="F5D488"/>
                </a:solidFill>
                <a:latin typeface="Microsoft YaHei"/>
              </a:rPr>
              <a:t>可追溯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4148666"/>
            <a:ext cx="59266" cy="592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333" y="4080933"/>
            <a:ext cx="2878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三个核心模块协同输出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9333" y="474133"/>
            <a:ext cx="7704666" cy="338666"/>
          </a:xfrm>
          <a:prstGeom prst="rect">
            <a:avLst/>
          </a:prstGeom>
          <a:solidFill>
            <a:srgbClr val="0A1730">
              <a:alpha val="88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1733" y="592666"/>
            <a:ext cx="93133" cy="93133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1066" y="592666"/>
            <a:ext cx="93133" cy="93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0400" y="592666"/>
            <a:ext cx="93133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2800" y="541866"/>
            <a:ext cx="3894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工银科创桥 · 企业画像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3866" y="533400"/>
            <a:ext cx="1337733" cy="220133"/>
          </a:xfrm>
          <a:prstGeom prst="rect">
            <a:avLst/>
          </a:prstGeom>
          <a:solidFill>
            <a:srgbClr val="143061">
              <a:alpha val="4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3866" y="533400"/>
            <a:ext cx="1337733" cy="220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F5D488"/>
                </a:solidFill>
                <a:latin typeface="Microsoft YaHei"/>
              </a:rPr>
              <a:t>估值来源：ML 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9333" y="812800"/>
            <a:ext cx="7704666" cy="5588000"/>
          </a:xfrm>
          <a:prstGeom prst="rect">
            <a:avLst/>
          </a:prstGeom>
          <a:solidFill>
            <a:srgbClr val="0E2145">
              <a:alpha val="74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48666" y="982133"/>
            <a:ext cx="2540000" cy="15240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1066" y="1117600"/>
            <a:ext cx="2201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基础信息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066" y="13716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所属行业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9333" y="13716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半导体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1066" y="1642533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研发阶段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9333" y="1642533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原型验证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066" y="1913466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员工人数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9333" y="1913466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86 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066" y="21844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研发占比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9333" y="21844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42%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4133" y="982133"/>
            <a:ext cx="4690533" cy="15240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533" y="1117600"/>
            <a:ext cx="2540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AI 估值结果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9333" y="1117600"/>
            <a:ext cx="23029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6 项指标同步输出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6533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533" y="1456266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8,600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>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533" y="1693333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当前估值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83600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3600" y="1456266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7,200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>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3600" y="1693333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基础估值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90666" y="1371600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90666" y="1456266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F5A4E"/>
                </a:solidFill>
                <a:latin typeface="Microsoft YaHei"/>
              </a:rPr>
              <a:t>18.4%</a:t>
            </a:r>
            <a:r>
              <a:rPr sz="1000" b="0">
                <a:solidFill>
                  <a:srgbClr val="FF5A4E"/>
                </a:solidFill>
                <a:latin typeface="Microsoft YaHe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0666" y="1693333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风险评分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76533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76533" y="2048933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37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533" y="2286000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专利数量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83600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3600" y="2048933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0.82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3600" y="2286000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平均专利质量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90666" y="1964266"/>
            <a:ext cx="1388533" cy="508000"/>
          </a:xfrm>
          <a:prstGeom prst="rect">
            <a:avLst/>
          </a:prstGeom>
          <a:solidFill>
            <a:srgbClr val="0A1730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0666" y="2048933"/>
            <a:ext cx="13885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88</a:t>
            </a:r>
            <a:r>
              <a:rPr sz="1000" b="0">
                <a:solidFill>
                  <a:srgbClr val="F5D488"/>
                </a:solidFill>
                <a:latin typeface="Microsoft YaHe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90666" y="2286000"/>
            <a:ext cx="13885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FB4DA"/>
                </a:solidFill>
                <a:latin typeface="Microsoft YaHei"/>
              </a:rPr>
              <a:t>团队评分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48666" y="2641600"/>
            <a:ext cx="7366000" cy="3505200"/>
          </a:xfrm>
          <a:prstGeom prst="rect">
            <a:avLst/>
          </a:prstGeom>
          <a:solidFill>
            <a:srgbClr val="143061">
              <a:alpha val="55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1066" y="2794000"/>
            <a:ext cx="33866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研发团队画像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6000" y="2794000"/>
            <a:ext cx="3979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加权：论文 20% · 引用 20% · H 指数 15% · 专利 25% · 经验 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1066" y="31496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学术论文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47733" y="3217333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47733" y="3217333"/>
            <a:ext cx="3352800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68000" y="3149600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01066" y="3623733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引用总量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47733" y="3691466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47733" y="3691466"/>
            <a:ext cx="3793066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68000" y="3623733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01066" y="4097866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H 指数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47733" y="4165600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47733" y="4165600"/>
            <a:ext cx="2489200" cy="93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68000" y="4097866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01066" y="45720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专利产出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47733" y="4639733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47733" y="4639733"/>
            <a:ext cx="4766733" cy="93133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68000" y="4572000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01066" y="5046133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从业经验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47733" y="5113866"/>
            <a:ext cx="5418666" cy="93133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147733" y="5113866"/>
            <a:ext cx="3793066" cy="93133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68000" y="5046133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8466666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专利引用网络：让单件专利的影响力被看见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67333" y="508000"/>
            <a:ext cx="21166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节点大小 ＝ PageRank 值</a:t>
            </a:r>
          </a:p>
          <a:p>
            <a:pPr algn="r">
              <a:lnSpc>
                <a:spcPct val="14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颜色 ＝ 质量等级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249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217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力导向引用网络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9333" y="2116666"/>
            <a:ext cx="16086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可拖拽漫游</a:t>
            </a:r>
          </a:p>
        </p:txBody>
      </p:sp>
      <p:pic>
        <p:nvPicPr>
          <p:cNvPr id="14" name="Picture 13" descr="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21466"/>
            <a:ext cx="4741333" cy="247226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26666" y="1913466"/>
            <a:ext cx="5757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2933" y="2082800"/>
            <a:ext cx="3217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引用趋势 · 质量评分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6666" y="2116666"/>
            <a:ext cx="1778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双 Y 轴</a:t>
            </a:r>
          </a:p>
        </p:txBody>
      </p:sp>
      <p:pic>
        <p:nvPicPr>
          <p:cNvPr id="18" name="Picture 17" descr="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733" y="2438400"/>
            <a:ext cx="5283200" cy="247226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5266266"/>
            <a:ext cx="5926666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000" y="5266266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333" y="5477933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专利质量模型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0933" y="5300133"/>
            <a:ext cx="4741333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引用 30% ＋ PageRank 25% ＋ 同族 20% ＋ 国际布局 15% ＋ 诉讼 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4000" y="5266266"/>
            <a:ext cx="5080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3333" y="5384800"/>
            <a:ext cx="4741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团队画像联动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3333" y="5588000"/>
            <a:ext cx="4741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论文总数 · 专利总数 · 总引用数 · 平均 H 指数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ridge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6000"/>
                </a:srgbClr>
              </a:gs>
            </a:gsLst>
            <a:lin ang="1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666" y="4572000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产品演示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拖动一根滑块，看见授信额度如何生长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6773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266" y="2082800"/>
            <a:ext cx="3217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里程碑看板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9333" y="2116666"/>
            <a:ext cx="1862666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状态随进度自动流转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266" y="2497666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266" y="2497666"/>
            <a:ext cx="169333" cy="169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66" y="2455333"/>
            <a:ext cx="1100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立项 / 预研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16666" y="2523066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6666" y="2523066"/>
            <a:ext cx="3217333" cy="762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3333" y="2455333"/>
            <a:ext cx="1608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266" y="2887133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266" y="2887133"/>
            <a:ext cx="169333" cy="169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66" y="2844800"/>
            <a:ext cx="1100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原型验证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6666" y="2912533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16666" y="2912533"/>
            <a:ext cx="3217333" cy="762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3333" y="2844800"/>
            <a:ext cx="1608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266" y="3276600"/>
            <a:ext cx="169333" cy="169333"/>
          </a:xfrm>
          <a:prstGeom prst="rect">
            <a:avLst/>
          </a:prstGeom>
          <a:noFill/>
          <a:ln w="1397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266" y="3276600"/>
            <a:ext cx="169333" cy="169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D488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66" y="3234266"/>
            <a:ext cx="1100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流片 / 临床 II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16666" y="3302000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16666" y="3302000"/>
            <a:ext cx="2413000" cy="762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3333" y="3234266"/>
            <a:ext cx="1608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8B34B"/>
                </a:solidFill>
                <a:latin typeface="Microsoft YaHei"/>
              </a:rPr>
              <a:t>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266" y="3666066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266" y="3666066"/>
            <a:ext cx="169333" cy="169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66" y="3623733"/>
            <a:ext cx="1100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商业化量产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16666" y="3691466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3333" y="3623733"/>
            <a:ext cx="1608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待启动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266" y="4055533"/>
            <a:ext cx="169333" cy="169333"/>
          </a:xfrm>
          <a:prstGeom prst="rect">
            <a:avLst/>
          </a:prstGeom>
          <a:noFill/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266" y="4055533"/>
            <a:ext cx="169333" cy="169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FB4DA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266" y="4013200"/>
            <a:ext cx="1100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上市预备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16666" y="4080933"/>
            <a:ext cx="32173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03333" y="4013200"/>
            <a:ext cx="1608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待启动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266" y="4470400"/>
            <a:ext cx="6400800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266" y="4572000"/>
            <a:ext cx="4233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当前里程碑触发的工具包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266" y="4792133"/>
            <a:ext cx="795866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266" y="4792133"/>
            <a:ext cx="7958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投贷联动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91733" y="4792133"/>
            <a:ext cx="1879600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91733" y="4792133"/>
            <a:ext cx="18796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银行授信 + VC 跟投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72933" y="4792133"/>
            <a:ext cx="1337733" cy="287866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72933" y="4792133"/>
            <a:ext cx="13377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授信比例 40%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0666" y="1913466"/>
            <a:ext cx="4233333" cy="3149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50666" y="1913466"/>
            <a:ext cx="4233333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6933" y="2082800"/>
            <a:ext cx="2540000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授信模拟器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83333" y="2116666"/>
            <a:ext cx="9313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实时计算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6933" y="2438400"/>
            <a:ext cx="2540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里程碑进度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6933" y="2692400"/>
            <a:ext cx="3877733" cy="762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36933" y="2692400"/>
            <a:ext cx="2904066" cy="762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56333" y="2633133"/>
            <a:ext cx="169333" cy="169333"/>
          </a:xfrm>
          <a:prstGeom prst="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56333" y="2633133"/>
            <a:ext cx="169333" cy="169333"/>
          </a:xfrm>
          <a:prstGeom prst="rect">
            <a:avLst/>
          </a:prstGeom>
          <a:noFill/>
          <a:ln w="3175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60000" y="2472266"/>
            <a:ext cx="1354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75%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36933" y="2946400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0226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基础额度（AI 估值 × 30%）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0000" y="3005666"/>
            <a:ext cx="12361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2,580 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6933" y="3369733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3445933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× 进度系数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0000" y="3429000"/>
            <a:ext cx="12361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5D488"/>
                </a:solidFill>
                <a:latin typeface="Microsoft YaHei"/>
              </a:rPr>
              <a:t>0.75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36933" y="3793066"/>
            <a:ext cx="3877733" cy="338666"/>
          </a:xfrm>
          <a:prstGeom prst="rect">
            <a:avLst/>
          </a:prstGeom>
          <a:solidFill>
            <a:srgbClr val="143061">
              <a:alpha val="52000"/>
            </a:srgbClr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3869266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× 风险系数（1 − 18.4% × 0.5）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0000" y="3852333"/>
            <a:ext cx="12361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8" b="0">
                <a:solidFill>
                  <a:srgbClr val="FF5A4E"/>
                </a:solidFill>
                <a:latin typeface="Microsoft YaHei"/>
              </a:rPr>
              <a:t>0.908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36933" y="4301066"/>
            <a:ext cx="3877733" cy="643466"/>
          </a:xfrm>
          <a:prstGeom prst="rect">
            <a:avLst/>
          </a:prstGeom>
          <a:solidFill>
            <a:srgbClr val="E8B34B">
              <a:alpha val="20000"/>
            </a:srgbClr>
          </a:solidFill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6933" y="4402666"/>
            <a:ext cx="3877733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最终授信额度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6933" y="4605866"/>
            <a:ext cx="3877733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46" b="1">
                <a:solidFill>
                  <a:srgbClr val="F5D488"/>
                </a:solidFill>
                <a:latin typeface="Microsoft YaHei"/>
              </a:rPr>
              <a:t>1,758</a:t>
            </a:r>
            <a:r>
              <a:rPr sz="1494" b="0">
                <a:solidFill>
                  <a:srgbClr val="F5D488"/>
                </a:solidFill>
                <a:latin typeface="Microsoft YaHei"/>
              </a:rPr>
              <a:t> 万元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8000" y="5283200"/>
            <a:ext cx="11176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8000" y="5283200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7333" y="5494866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风控联动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40933" y="5317066"/>
            <a:ext cx="9990666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风险评分与里程碑进度双线趋势图实时跟踪；「里程碑延迟」「进度偏低」两类预警自动触发，并回写额度调整建议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olicy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68000"/>
                </a:srgbClr>
              </a:gs>
            </a:gsLst>
            <a:lin ang="3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-1693333"/>
            <a:ext cx="6265333" cy="6265333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01 · 应用成效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看得见的价值：三方收益与三条落地路径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556000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266" y="2082800"/>
            <a:ext cx="3217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银行侧收益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266" y="2540000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2472266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获客面从有抵押物企业扩展至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轻资产科创企业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3166533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098800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授信从一次性静态审批转为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可动态调整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266" y="3793066"/>
            <a:ext cx="59266" cy="592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3725333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风险在前置指标上被识别，降低处置成本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8000" y="1913466"/>
            <a:ext cx="3556000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4266" y="2082800"/>
            <a:ext cx="3217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企业侧收益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4266" y="2540000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3600" y="2472266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融资节奏与研发节奏对齐，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缓解死亡谷资金断档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4266" y="3166533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3600" y="3098800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每过一个节点自动释放额度，形成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确定性预期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66" y="3793066"/>
            <a:ext cx="59266" cy="592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3600" y="3725333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避免在困难期过度稀释股权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0" y="1913466"/>
            <a:ext cx="3556000" cy="2506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0" y="1913466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4266" y="2082800"/>
            <a:ext cx="3217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生态侧收益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4266" y="2540000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3600" y="2472266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为「见投即贷」「先投后贷」提供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量化依据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4266" y="3166533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3600" y="3098800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支撑「中试保融通」等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投贷保联动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产品创新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266" y="3793066"/>
            <a:ext cx="59266" cy="592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3600" y="3725333"/>
            <a:ext cx="30310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呼应监管「敢贷、愿贷、能贷、会贷」导向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4673600"/>
            <a:ext cx="3386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落 地 路 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0400" y="5130800"/>
            <a:ext cx="237066" cy="237066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400" y="5130800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C7000B"/>
                </a:solidFill>
                <a:latin typeface="Microsoft YaHe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133" y="5113866"/>
            <a:ext cx="1693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接 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" y="5418666"/>
            <a:ext cx="3081866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对接工行科技金融「五专」体系与现有研发贷、积分贷、知识产权融资产品线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8533" y="5215466"/>
            <a:ext cx="304800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30" b="0">
                <a:solidFill>
                  <a:srgbClr val="C7000B"/>
                </a:solidFill>
                <a:latin typeface="Microsoft YaHei"/>
              </a:rPr>
              <a:t>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70400" y="5130800"/>
            <a:ext cx="237066" cy="237066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70400" y="5130800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E8B34B"/>
                </a:solidFill>
                <a:latin typeface="Microsoft YaHe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133" y="5113866"/>
            <a:ext cx="1693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试 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0400" y="5418666"/>
            <a:ext cx="3081866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优先在知识产权金融生态综合试点省市落地，借力 13 省 124 市风险补偿政策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8533" y="5215466"/>
            <a:ext cx="304800" cy="338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30" b="0">
                <a:solidFill>
                  <a:srgbClr val="E8B34B"/>
                </a:solidFill>
                <a:latin typeface="Microsoft YaHei"/>
              </a:rPr>
              <a:t>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0" y="4944533"/>
            <a:ext cx="3386666" cy="982133"/>
          </a:xfrm>
          <a:prstGeom prst="rect">
            <a:avLst/>
          </a:prstGeom>
          <a:solidFill>
            <a:srgbClr val="0E2145">
              <a:alpha val="62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0400" y="5130800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400" y="5130800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5B7DBB"/>
                </a:solidFill>
                <a:latin typeface="Microsoft Ya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02133" y="5113866"/>
            <a:ext cx="1693333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6" b="1">
                <a:solidFill>
                  <a:srgbClr val="F5D488"/>
                </a:solidFill>
                <a:latin typeface="Microsoft YaHei"/>
              </a:rPr>
              <a:t>共 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0400" y="5418666"/>
            <a:ext cx="3081866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联合政府性担保与风险补偿资金池按比例分担损失，提升一线放贷意愿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000" y="6062133"/>
            <a:ext cx="11176000" cy="4741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8000" y="6062133"/>
            <a:ext cx="33866" cy="474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7333" y="6197600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FF5A4E"/>
                </a:solidFill>
                <a:latin typeface="Microsoft YaHei"/>
              </a:rPr>
              <a:t>数据边界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40933" y="6096000"/>
            <a:ext cx="9990666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本页收益为基于公开数据与模型逻辑的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测算推断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，用于说明方案的价值方向，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并非实际投放业绩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6000"/>
                </a:srgbClr>
              </a:gs>
              <a:gs pos="100000">
                <a:srgbClr val="143061">
                  <a:alpha val="5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3" y="4064000"/>
            <a:ext cx="6604000" cy="6604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00" y="-1693333"/>
            <a:ext cx="5926666" cy="5926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2116666"/>
            <a:ext cx="1016000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9466" y="20320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>
                <a:solidFill>
                  <a:srgbClr val="E8B34B"/>
                </a:solidFill>
                <a:latin typeface="Microsoft YaHei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540000"/>
            <a:ext cx="7620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65" b="1">
                <a:solidFill>
                  <a:srgbClr val="F5D488"/>
                </a:solidFill>
                <a:latin typeface="Microsoft YaHei"/>
              </a:rPr>
              <a:t>技术价值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05200"/>
            <a:ext cx="762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2" b="0">
                <a:solidFill>
                  <a:srgbClr val="E0E6F0"/>
                </a:solidFill>
                <a:latin typeface="Microsoft YaHei"/>
              </a:rPr>
              <a:t>从应用逻辑，走进 AI 引擎与工程实现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4233333"/>
            <a:ext cx="2286000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4233333"/>
            <a:ext cx="2286000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F5D488"/>
                </a:solidFill>
                <a:latin typeface="Microsoft YaHei"/>
              </a:rPr>
              <a:t>XGBoost 双模型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9466" y="4233333"/>
            <a:ext cx="2455333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9466" y="4233333"/>
            <a:ext cx="2455333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FF5A4E"/>
                </a:solidFill>
                <a:latin typeface="Microsoft YaHei"/>
              </a:rPr>
              <a:t>PageRank 图算法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0266" y="4233333"/>
            <a:ext cx="1100666" cy="389466"/>
          </a:xfrm>
          <a:prstGeom prst="rect">
            <a:avLst/>
          </a:prstGeom>
          <a:solidFill>
            <a:srgbClr val="143061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0266" y="4233333"/>
            <a:ext cx="1100666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7" b="0">
                <a:solidFill>
                  <a:srgbClr val="9FB4DA"/>
                </a:solidFill>
                <a:latin typeface="Microsoft YaHei"/>
              </a:rPr>
              <a:t>优雅降级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995333"/>
            <a:ext cx="5926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9FB4DA"/>
                </a:solidFill>
                <a:latin typeface="Microsoft YaHei"/>
              </a:rPr>
              <a:t>本部分 5 页 · 回答「凭什么我们做得到」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2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四层解耦：从交互界面到底层模型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42333" cy="9990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2099733"/>
            <a:ext cx="1354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302933"/>
            <a:ext cx="1354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展现层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6666" y="2065866"/>
            <a:ext cx="25315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6666" y="2065866"/>
            <a:ext cx="25315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Vue 3 Composition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2866" y="2065866"/>
            <a:ext cx="13208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2866" y="2065866"/>
            <a:ext cx="13208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TypeScript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8333" y="2065866"/>
            <a:ext cx="8805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8333" y="2065866"/>
            <a:ext cx="8805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Vite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3533" y="2065866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3533" y="2065866"/>
            <a:ext cx="15409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Element Plus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29133" y="2065866"/>
            <a:ext cx="12107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9133" y="2065866"/>
            <a:ext cx="12107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ECharts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4533" y="2065866"/>
            <a:ext cx="7704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4533" y="2065866"/>
            <a:ext cx="7704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Pinia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6666" y="2540000"/>
            <a:ext cx="931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玻璃拟态深色主题 · 1024px / 640px 双断点响应式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048000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8000" y="3048000"/>
            <a:ext cx="42333" cy="9990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200" y="3234266"/>
            <a:ext cx="1354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3437466"/>
            <a:ext cx="1354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服务层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6666" y="3200400"/>
            <a:ext cx="990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16666" y="3200400"/>
            <a:ext cx="9906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FastAPI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91933" y="3200400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933" y="3200400"/>
            <a:ext cx="15409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SQLAlchemy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17533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17533" y="3200400"/>
            <a:ext cx="6604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企业服务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2600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2600" y="3200400"/>
            <a:ext cx="6604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估值服务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7666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7666" y="3200400"/>
            <a:ext cx="6604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授信服务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52733" y="3200400"/>
            <a:ext cx="6604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2733" y="3200400"/>
            <a:ext cx="6604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风控服务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16666" y="3674533"/>
            <a:ext cx="931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四组业务服务 · 13 个 REST 端点对外暴露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8000" y="4182533"/>
            <a:ext cx="11176000" cy="999066"/>
          </a:xfrm>
          <a:prstGeom prst="rect">
            <a:avLst/>
          </a:prstGeom>
          <a:solidFill>
            <a:srgbClr val="143061">
              <a:alpha val="78000"/>
            </a:srgbClr>
          </a:solidFill>
          <a:ln w="1651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8000" y="4182533"/>
            <a:ext cx="42333" cy="9990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200" y="4368800"/>
            <a:ext cx="1354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200" y="4572000"/>
            <a:ext cx="1354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AI 推理层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16666" y="4334933"/>
            <a:ext cx="15409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16666" y="4334933"/>
            <a:ext cx="15409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XGBoost 估值模型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2266" y="4334933"/>
            <a:ext cx="17610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2266" y="4334933"/>
            <a:ext cx="17610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XGBoost 破产风险模型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8000" y="4334933"/>
            <a:ext cx="20912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88000" y="4334933"/>
            <a:ext cx="20912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NetworkX PageRank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63933" y="4334933"/>
            <a:ext cx="14308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63933" y="4334933"/>
            <a:ext cx="14308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.joblib 热加载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6666" y="4809066"/>
            <a:ext cx="931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双模型并行推理 ＋ 图计算，统一封装为单次 API 调用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5317066"/>
            <a:ext cx="11176000" cy="9990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8000" y="5317066"/>
            <a:ext cx="42333" cy="999066"/>
          </a:xfrm>
          <a:prstGeom prst="rect">
            <a:avLst/>
          </a:prstGeom>
          <a:solidFill>
            <a:srgbClr val="9FB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200" y="5503333"/>
            <a:ext cx="1354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LAYER 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200" y="5706533"/>
            <a:ext cx="1354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数据层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6666" y="5469466"/>
            <a:ext cx="1117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6666" y="5469466"/>
            <a:ext cx="11176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Enterprise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8933" y="5469466"/>
            <a:ext cx="23283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18933" y="5469466"/>
            <a:ext cx="23283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Patent / PatentCitation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1933" y="5469466"/>
            <a:ext cx="1117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31933" y="5469466"/>
            <a:ext cx="11176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TeamMember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34200" y="5469466"/>
            <a:ext cx="2514600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34200" y="5469466"/>
            <a:ext cx="2514600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Milestone / FinancialTool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33466" y="5469466"/>
            <a:ext cx="2421466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33466" y="5469466"/>
            <a:ext cx="2421466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CreditRecord / RiskAlert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039600" y="5469466"/>
            <a:ext cx="1490133" cy="287866"/>
          </a:xfrm>
          <a:prstGeom prst="rect">
            <a:avLst/>
          </a:prstGeom>
          <a:solidFill>
            <a:srgbClr val="143061">
              <a:alpha val="50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039600" y="5469466"/>
            <a:ext cx="1490133" cy="287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SQLite / MySQL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16666" y="5943600"/>
            <a:ext cx="931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含 95 维财务特征 JSON · Redis 可选，降级不影响主流程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ab-human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0000"/>
                </a:srgbClr>
              </a:gs>
            </a:gsLst>
            <a:lin ang="1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AI 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两个 XGBoost 模型，撑起估值与风险两侧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418666" cy="3048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418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2099733"/>
            <a:ext cx="3386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估值预测模型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1333" y="2116666"/>
            <a:ext cx="9821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1333" y="2116666"/>
            <a:ext cx="982133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Regressor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2590800"/>
            <a:ext cx="2387600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5D488"/>
                </a:solidFill>
                <a:latin typeface="Microsoft YaHei"/>
              </a:rPr>
              <a:t>0.927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912533"/>
            <a:ext cx="23876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基础估值 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8933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933" y="2590800"/>
            <a:ext cx="2387600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5D488"/>
                </a:solidFill>
                <a:latin typeface="Microsoft YaHei"/>
              </a:rPr>
              <a:t>0.954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8933" y="2912533"/>
            <a:ext cx="23876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当前估值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3302000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训练样本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0000" y="3302000"/>
            <a:ext cx="321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2000 条硬科技企业数据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200" y="3572933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输入特征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0000" y="3572933"/>
            <a:ext cx="321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8 个（含行业与阶段类别）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3843866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模型配置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0000" y="3843866"/>
            <a:ext cx="321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300 棵树 · max_depth =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4114800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预处理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0000" y="4114800"/>
            <a:ext cx="321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OneHotEncoder ＋ 数值直通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200" y="4402666"/>
            <a:ext cx="50122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200" y="4504266"/>
            <a:ext cx="254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特 征 工 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4690533"/>
            <a:ext cx="50122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引入非线性与交互项：patent_count^0.7、team_score^1.5、log(员工数)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5333" y="1913466"/>
            <a:ext cx="5418666" cy="30480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5333" y="1913466"/>
            <a:ext cx="5418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8533" y="2099733"/>
            <a:ext cx="3386666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9" b="1">
                <a:solidFill>
                  <a:srgbClr val="F5D488"/>
                </a:solidFill>
                <a:latin typeface="Microsoft YaHei"/>
              </a:rPr>
              <a:t>破产风险预测模型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01866" y="2116666"/>
            <a:ext cx="778933" cy="254000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01866" y="2116666"/>
            <a:ext cx="778933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0">
                <a:solidFill>
                  <a:srgbClr val="FF5A4E"/>
                </a:solidFill>
                <a:latin typeface="Microsoft YaHei"/>
              </a:rPr>
              <a:t>Classifier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8533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8533" y="2590800"/>
            <a:ext cx="2387600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F5A4E"/>
                </a:solidFill>
                <a:latin typeface="Microsoft YaHei"/>
              </a:rPr>
              <a:t>0.958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8533" y="2912533"/>
            <a:ext cx="23876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AUC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6266" y="2472266"/>
            <a:ext cx="2387600" cy="694266"/>
          </a:xfrm>
          <a:prstGeom prst="rect">
            <a:avLst/>
          </a:prstGeom>
          <a:solidFill>
            <a:srgbClr val="0A1730">
              <a:alpha val="58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6266" y="2590800"/>
            <a:ext cx="2387600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60" b="1">
                <a:solidFill>
                  <a:srgbClr val="FF5A4E"/>
                </a:solidFill>
                <a:latin typeface="Microsoft YaHei"/>
              </a:rPr>
              <a:t>96.9</a:t>
            </a:r>
            <a:r>
              <a:rPr sz="1180" b="0">
                <a:solidFill>
                  <a:srgbClr val="FF5A4E"/>
                </a:solidFill>
                <a:latin typeface="Microsoft YaHei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6266" y="2912533"/>
            <a:ext cx="23876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8533" y="3302000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训练数据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7333" y="3302000"/>
            <a:ext cx="31665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真实企业财务公开数据集 6819 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8533" y="3572933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特征维度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7333" y="3572933"/>
            <a:ext cx="31665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95 个财务特征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8533" y="3843866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类别分布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7333" y="3843866"/>
            <a:ext cx="31665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未破产 6599 vs 破产 220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8533" y="4114800"/>
            <a:ext cx="1693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不平衡处理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7333" y="4114800"/>
            <a:ext cx="31665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E0E6F0"/>
                </a:solidFill>
                <a:latin typeface="Microsoft YaHei"/>
              </a:rPr>
              <a:t>scale_pos_weight = 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8533" y="4402666"/>
            <a:ext cx="5012266" cy="8466"/>
          </a:xfrm>
          <a:prstGeom prst="rect">
            <a:avLst/>
          </a:prstGeom>
          <a:solidFill>
            <a:srgbClr val="5B7DB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8533" y="4504266"/>
            <a:ext cx="254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TOP 5 特征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8533" y="4690533"/>
            <a:ext cx="50122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22" b="0">
                <a:solidFill>
                  <a:srgbClr val="E0E6F0"/>
                </a:solidFill>
                <a:latin typeface="Microsoft YaHei"/>
              </a:rPr>
              <a:t>税后持续利率 12.9% · 近四季 EPS 7.7% · 净利润/总资产 7.4% · 借款依赖度 4.1%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8000" y="5266266"/>
            <a:ext cx="11176000" cy="6265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8000" y="5266266"/>
            <a:ext cx="33866" cy="6265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333" y="5477933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推理链路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40933" y="5300133"/>
            <a:ext cx="9990666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请求进入 → 组装特征（专利数 · PageRank 质量 · 团队评分） → 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双模型并行推理</a:t>
            </a:r>
            <a:r>
              <a:rPr sz="1337" b="0">
                <a:solidFill>
                  <a:srgbClr val="E0E6F0"/>
                </a:solidFill>
                <a:latin typeface="Microsoft YaHei"/>
              </a:rPr>
              <a:t> → 输出基础/当前估值与风险评分 → 异常时回退规则公式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network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9333" y="-1608666"/>
            <a:ext cx="5926666" cy="5926666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66" y="4741333"/>
            <a:ext cx="5588000" cy="558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图算法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用图算法量化一件专利的真实影响力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33866" cy="11176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2065866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为什么用「图」而不是「计数」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04533"/>
            <a:ext cx="5858933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专利的价值不只在于被引用多少次，更在于它在整个技术脉络中的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位置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——被一件核心专利引用，与被一件边缘专利引用，含金量完全不同。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3166533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000" y="3166533"/>
            <a:ext cx="33866" cy="11176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3318933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算法实现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3657600"/>
            <a:ext cx="5858933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以 NetworkX 构建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有向引用图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（专利为节点、引用关系为边），运行 PageRank（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alpha = 0.85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）计算每件专利的中心性权重。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419600"/>
            <a:ext cx="6265333" cy="11176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000" y="4419600"/>
            <a:ext cx="33866" cy="1117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4572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如何进入风控链路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10666"/>
            <a:ext cx="5858933" cy="524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PageRank 结果作为专利质量的维度之一合成质量分，再回流为企业估值与授信输入——让图计算的产出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直接作用于额度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7333" y="1913466"/>
            <a:ext cx="4656666" cy="19981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3600" y="2082800"/>
            <a:ext cx="3217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引用网络中的节点位置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0666" y="2116666"/>
            <a:ext cx="1524000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22" b="0">
                <a:solidFill>
                  <a:srgbClr val="9FB4DA"/>
                </a:solidFill>
                <a:latin typeface="Microsoft YaHei"/>
              </a:rPr>
              <a:t>节点越大，中心性越高</a:t>
            </a:r>
          </a:p>
        </p:txBody>
      </p:sp>
      <p:pic>
        <p:nvPicPr>
          <p:cNvPr id="25" name="Picture 24" descr="small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00" y="2438400"/>
            <a:ext cx="4284133" cy="133773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027333" y="4047066"/>
            <a:ext cx="4656666" cy="2150533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13600" y="4216400"/>
            <a:ext cx="3217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1">
                <a:solidFill>
                  <a:srgbClr val="F5D488"/>
                </a:solidFill>
                <a:latin typeface="Microsoft YaHei"/>
              </a:rPr>
              <a:t>专利质量评分构成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3600" y="4555066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引用次数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3333" y="4614333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3333" y="4614333"/>
            <a:ext cx="2709333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22000" y="4555066"/>
            <a:ext cx="592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4893733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PageRank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3333" y="4953000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3333" y="4953000"/>
            <a:ext cx="2243666" cy="1016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22000" y="4893733"/>
            <a:ext cx="592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5232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同族规模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3333" y="5291666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3333" y="5291666"/>
            <a:ext cx="1811866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2000" y="5232400"/>
            <a:ext cx="592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3600" y="5571066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国际布局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3333" y="5630333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3333" y="5630333"/>
            <a:ext cx="1354666" cy="101600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2000" y="5571066"/>
            <a:ext cx="592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3600" y="5909733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诉讼情况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3333" y="5969000"/>
            <a:ext cx="2709333" cy="101600"/>
          </a:xfrm>
          <a:prstGeom prst="rect">
            <a:avLst/>
          </a:prstGeom>
          <a:solidFill>
            <a:srgbClr val="5B7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3333" y="5969000"/>
            <a:ext cx="889000" cy="1016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2000" y="5909733"/>
            <a:ext cx="59266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1" b="0">
                <a:solidFill>
                  <a:srgbClr val="F5D488"/>
                </a:solidFill>
                <a:latin typeface="Microsoft YaHei"/>
              </a:rPr>
              <a:t>10%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000" y="6231466"/>
            <a:ext cx="11176000" cy="524933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8000" y="6231466"/>
            <a:ext cx="33866" cy="5249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7333" y="6392333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差异化价值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0933" y="6265333"/>
            <a:ext cx="99906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37" b="0">
                <a:solidFill>
                  <a:srgbClr val="E0E6F0"/>
                </a:solidFill>
                <a:latin typeface="Microsoft YaHei"/>
              </a:rPr>
              <a:t>把单件专利从「一个计数」升级为「一个位置」，让银行的知识产权评估</a:t>
            </a:r>
            <a:r>
              <a:rPr sz="1337" b="1">
                <a:solidFill>
                  <a:srgbClr val="F5D488"/>
                </a:solidFill>
                <a:latin typeface="Microsoft YaHei"/>
              </a:rPr>
              <a:t>从数量逻辑走向结构逻辑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ircui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7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3" y="-1524000"/>
            <a:ext cx="5757333" cy="5757333"/>
          </a:xfrm>
          <a:prstGeom prst="rect">
            <a:avLst/>
          </a:prstGeom>
        </p:spPr>
      </p:pic>
      <p:pic>
        <p:nvPicPr>
          <p:cNvPr id="5" name="Picture 4" descr="gl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9333" y="4741333"/>
            <a:ext cx="5757333" cy="5757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406400"/>
            <a:ext cx="33866" cy="220133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" y="389466"/>
            <a:ext cx="6773333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PART 02 · 工程实现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77333"/>
            <a:ext cx="9313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10" b="1">
                <a:solidFill>
                  <a:srgbClr val="F5D488"/>
                </a:solidFill>
                <a:latin typeface="Microsoft YaHei"/>
              </a:rPr>
              <a:t>让 AI 在银行生产环境里稳定落地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185333"/>
            <a:ext cx="931333" cy="25400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1913466"/>
            <a:ext cx="5418666" cy="1456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1913466"/>
            <a:ext cx="5418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266" y="2116666"/>
            <a:ext cx="270933" cy="270933"/>
          </a:xfrm>
          <a:prstGeom prst="rect">
            <a:avLst/>
          </a:prstGeom>
          <a:noFill/>
          <a:ln w="1524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266" y="2116666"/>
            <a:ext cx="270933" cy="270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1">
                <a:solidFill>
                  <a:srgbClr val="F5D488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2133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优雅降级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266" y="2540000"/>
            <a:ext cx="50461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模型文件缺失或推理失败时，自动回退到规则公式，并在结果中标注估值来源——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保证服务可用性不因模型异常中断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。这是银行级系统的必备能力。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0666" y="1913466"/>
            <a:ext cx="5418666" cy="14562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0666" y="1913466"/>
            <a:ext cx="5418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6933" y="2116666"/>
            <a:ext cx="270933" cy="270933"/>
          </a:xfrm>
          <a:prstGeom prst="rect">
            <a:avLst/>
          </a:prstGeom>
          <a:noFill/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6933" y="2116666"/>
            <a:ext cx="270933" cy="270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8" b="1">
                <a:solidFill>
                  <a:srgbClr val="FF5A4E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466" y="2133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1">
                <a:solidFill>
                  <a:srgbClr val="F5D488"/>
                </a:solidFill>
                <a:latin typeface="Microsoft YaHei"/>
              </a:rPr>
              <a:t>实时联动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6933" y="2540000"/>
            <a:ext cx="50461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8" b="0">
                <a:solidFill>
                  <a:srgbClr val="E0E6F0"/>
                </a:solidFill>
                <a:latin typeface="Microsoft YaHei"/>
              </a:rPr>
              <a:t>里程碑进度滑块拖动时，状态流转与授信额度同步重算；任一要素调整后全部指标一并刷新，做到</a:t>
            </a:r>
            <a:r>
              <a:rPr sz="1258" b="1">
                <a:solidFill>
                  <a:srgbClr val="F5D488"/>
                </a:solidFill>
                <a:latin typeface="Microsoft YaHei"/>
              </a:rPr>
              <a:t>所见即所得</a:t>
            </a:r>
            <a:r>
              <a:rPr sz="1258" b="0">
                <a:solidFill>
                  <a:srgbClr val="E0E6F0"/>
                </a:solidFill>
                <a:latin typeface="Microsoft Ya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000" y="3505200"/>
            <a:ext cx="3556000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7333" y="3691466"/>
            <a:ext cx="237066" cy="237066"/>
          </a:xfrm>
          <a:prstGeom prst="rect">
            <a:avLst/>
          </a:prstGeom>
          <a:noFill/>
          <a:ln w="1524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333" y="36914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9FB4DA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066" y="3691466"/>
            <a:ext cx="2540000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可追溯性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333" y="4013200"/>
            <a:ext cx="3217333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估值与风险结果均标注产出来源（ML 模型 / 规则回退），便于风控人员复核与监管审计。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8000" y="3505200"/>
            <a:ext cx="3556000" cy="33866"/>
          </a:xfrm>
          <a:prstGeom prst="rect">
            <a:avLst/>
          </a:prstGeom>
          <a:solidFill>
            <a:srgbClr val="F5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7333" y="3691466"/>
            <a:ext cx="237066" cy="237066"/>
          </a:xfrm>
          <a:prstGeom prst="rect">
            <a:avLst/>
          </a:prstGeom>
          <a:noFill/>
          <a:ln w="15240">
            <a:solidFill>
              <a:srgbClr val="F5D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7333" y="36914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E8B34B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066" y="3691466"/>
            <a:ext cx="2540000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可视化与响应式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7333" y="4013200"/>
            <a:ext cx="3217333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ECharts 深色主题深度适配；7 个业务组件、6 类图表形态，支持 1024px 与 640px 断点自适应。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0" y="3505200"/>
            <a:ext cx="3556000" cy="1303866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0" y="3505200"/>
            <a:ext cx="3556000" cy="33866"/>
          </a:xfrm>
          <a:prstGeom prst="rect">
            <a:avLst/>
          </a:prstGeom>
          <a:solidFill>
            <a:srgbClr val="FF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97333" y="3691466"/>
            <a:ext cx="237066" cy="237066"/>
          </a:xfrm>
          <a:prstGeom prst="rect">
            <a:avLst/>
          </a:prstGeom>
          <a:noFill/>
          <a:ln w="15240">
            <a:solidFill>
              <a:srgbClr val="FF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7333" y="3691466"/>
            <a:ext cx="237066" cy="237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1" b="1">
                <a:solidFill>
                  <a:srgbClr val="C7000B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9066" y="3691466"/>
            <a:ext cx="2540000" cy="23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3" b="1">
                <a:solidFill>
                  <a:srgbClr val="F5D488"/>
                </a:solidFill>
                <a:latin typeface="Microsoft YaHei"/>
              </a:rPr>
              <a:t>链路完整性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7333" y="4013200"/>
            <a:ext cx="3217333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80" b="0">
                <a:solidFill>
                  <a:srgbClr val="E0E6F0"/>
                </a:solidFill>
                <a:latin typeface="Microsoft YaHei"/>
              </a:rPr>
              <a:t>13 个 REST 端点覆盖企业、估值、团队、专利、里程碑、授信、风控全链路。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000" y="5046133"/>
            <a:ext cx="2777066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000" y="5046133"/>
            <a:ext cx="2777066" cy="372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Vue 3 + TypeScript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3600" y="5046133"/>
            <a:ext cx="3318933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E8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3600" y="5046133"/>
            <a:ext cx="3318933" cy="372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5D488"/>
                </a:solidFill>
                <a:latin typeface="Microsoft YaHei"/>
              </a:rPr>
              <a:t>FastAPI + SQLAlchemy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41066" y="5046133"/>
            <a:ext cx="3318933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41066" y="5046133"/>
            <a:ext cx="3318933" cy="372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F5A4E"/>
                </a:solidFill>
                <a:latin typeface="Microsoft YaHei"/>
              </a:rPr>
              <a:t>XGBoost + scikit-learn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5537200"/>
            <a:ext cx="2641600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8000" y="5537200"/>
            <a:ext cx="2641600" cy="372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FF5A4E"/>
                </a:solidFill>
                <a:latin typeface="Microsoft YaHei"/>
              </a:rPr>
              <a:t>NetworkX PageRank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8133" y="5537200"/>
            <a:ext cx="3860800" cy="372533"/>
          </a:xfrm>
          <a:prstGeom prst="rect">
            <a:avLst/>
          </a:prstGeom>
          <a:solidFill>
            <a:srgbClr val="143061">
              <a:alpha val="55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8133" y="5537200"/>
            <a:ext cx="3860800" cy="372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SQLite / MySQL + Redis（可选）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0A1730">
                  <a:alpha val="97000"/>
                </a:srgbClr>
              </a:gs>
              <a:gs pos="100000">
                <a:srgbClr val="143061">
                  <a:alpha val="52000"/>
                </a:srgbClr>
              </a:gs>
            </a:gsLst>
            <a:lin ang="1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w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6" y="-1439333"/>
            <a:ext cx="6096000" cy="6096000"/>
          </a:xfrm>
          <a:prstGeom prst="rect">
            <a:avLst/>
          </a:prstGeom>
        </p:spPr>
      </p:pic>
      <p:pic>
        <p:nvPicPr>
          <p:cNvPr id="5" name="Picture 4" descr="glow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5333" y="4741333"/>
            <a:ext cx="5418666" cy="5418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8000" y="1490133"/>
            <a:ext cx="846666" cy="42333"/>
          </a:xfrm>
          <a:prstGeom prst="rect">
            <a:avLst/>
          </a:prstGeom>
          <a:gradFill rotWithShape="0">
            <a:gsLst>
              <a:gs pos="0">
                <a:srgbClr val="C7000B"/>
              </a:gs>
              <a:gs pos="100000">
                <a:srgbClr val="E8B34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133" y="1405466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8" b="0">
                <a:solidFill>
                  <a:srgbClr val="E8B34B"/>
                </a:solidFill>
                <a:latin typeface="Microsoft YaHei"/>
              </a:rPr>
              <a:t>结 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13466"/>
            <a:ext cx="7620000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48" b="1">
                <a:solidFill>
                  <a:srgbClr val="F5D488"/>
                </a:solidFill>
                <a:latin typeface="Microsoft YaHei"/>
              </a:rPr>
              <a:t>让研发的每一步</a:t>
            </a:r>
          </a:p>
          <a:p>
            <a:pPr algn="l">
              <a:lnSpc>
                <a:spcPct val="118000"/>
              </a:lnSpc>
            </a:pPr>
            <a:r>
              <a:rPr sz="4248" b="1">
                <a:solidFill>
                  <a:srgbClr val="F5D488"/>
                </a:solidFill>
                <a:latin typeface="Microsoft YaHei"/>
              </a:rPr>
              <a:t>都成为可计量的信用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3623733"/>
            <a:ext cx="2370666" cy="338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333" y="3793066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AI 动态估值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33" y="4080933"/>
            <a:ext cx="20320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把专利与团队变成可比较的分数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3623733"/>
            <a:ext cx="2370666" cy="3386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7333" y="3793066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里程碑触发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7333" y="4080933"/>
            <a:ext cx="20320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过一关，释放一档额度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88000" y="3623733"/>
            <a:ext cx="2370666" cy="914400"/>
          </a:xfrm>
          <a:prstGeom prst="rect">
            <a:avLst/>
          </a:prstGeom>
          <a:solidFill>
            <a:srgbClr val="0E2145">
              <a:alpha val="68000"/>
            </a:srgbClr>
          </a:solidFill>
          <a:ln w="1397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8000" y="3623733"/>
            <a:ext cx="2370666" cy="33866"/>
          </a:xfrm>
          <a:prstGeom prst="rect">
            <a:avLst/>
          </a:prstGeom>
          <a:solidFill>
            <a:srgbClr val="5B7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7333" y="3793066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2" b="1">
                <a:solidFill>
                  <a:srgbClr val="F5D488"/>
                </a:solidFill>
                <a:latin typeface="Microsoft YaHei"/>
              </a:rPr>
              <a:t>投贷联动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7333" y="4080933"/>
            <a:ext cx="20320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1" b="0">
                <a:solidFill>
                  <a:srgbClr val="9FB4DA"/>
                </a:solidFill>
                <a:latin typeface="Microsoft YaHei"/>
              </a:rPr>
              <a:t>银行与创投共用同一套判断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758266"/>
            <a:ext cx="11176000" cy="592666"/>
          </a:xfrm>
          <a:prstGeom prst="rect">
            <a:avLst/>
          </a:prstGeom>
          <a:solidFill>
            <a:srgbClr val="0E2145">
              <a:alpha val="62000"/>
            </a:srgbClr>
          </a:solidFill>
          <a:ln w="12700">
            <a:solidFill>
              <a:srgbClr val="5B7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" y="4758266"/>
            <a:ext cx="33866" cy="592666"/>
          </a:xfrm>
          <a:prstGeom prst="rect">
            <a:avLst/>
          </a:prstGeom>
          <a:solidFill>
            <a:srgbClr val="E8B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333" y="4953000"/>
            <a:ext cx="931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E8B34B"/>
                </a:solidFill>
                <a:latin typeface="Microsoft YaHei"/>
              </a:rPr>
              <a:t>展 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0933" y="4792133"/>
            <a:ext cx="9990666" cy="524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16" b="0">
                <a:solidFill>
                  <a:srgbClr val="E0E6F0"/>
                </a:solidFill>
                <a:latin typeface="Microsoft YaHei"/>
              </a:rPr>
              <a:t>从「看抵押物」到「看创新力」，从「静态审批」到「动态授信」——让更多硬科技企业走出死亡谷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655733"/>
            <a:ext cx="5926666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9FB4DA"/>
                </a:solidFill>
                <a:latin typeface="Microsoft YaHei"/>
              </a:rPr>
              <a:t>工银科创桥 · 硬科技企业里程碑式投贷联动平台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5621866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73" b="0">
                <a:solidFill>
                  <a:srgbClr val="F5D488"/>
                </a:solidFill>
                <a:latin typeface="Microsoft YaHei"/>
              </a:rPr>
              <a:t>感谢聆听　敬请指正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